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embeddedFontLst>
    <p:embeddedFont>
      <p:font typeface="Roboto" panose="020000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gKaFJf+QqjmoeQMIBKAmNgz9b6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font" Target="fonts/font1.fntdata" /><Relationship Id="rId26" Type="http://schemas.openxmlformats.org/officeDocument/2006/relationships/theme" Target="theme/theme1.xml" /><Relationship Id="rId3" Type="http://schemas.openxmlformats.org/officeDocument/2006/relationships/slide" Target="slides/slide2.xml" /><Relationship Id="rId21" Type="http://schemas.openxmlformats.org/officeDocument/2006/relationships/font" Target="fonts/font4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notesMaster" Target="notesMasters/notesMaster1.xml" /><Relationship Id="rId25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font" Target="fonts/font3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presProps" Target="pres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customschemas.google.com/relationships/presentationmetadata" Target="metadata" /><Relationship Id="rId10" Type="http://schemas.openxmlformats.org/officeDocument/2006/relationships/slide" Target="slides/slide9.xml" /><Relationship Id="rId19" Type="http://schemas.openxmlformats.org/officeDocument/2006/relationships/font" Target="fonts/font2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7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318ad311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g3b318ad311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2e7aa2f8e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b2e7aa2f8e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31b9e282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8" name="Google Shape;158;g3b31b9e282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1" name="Google Shape;18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9" name="Google Shape;18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jp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.jp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5.jp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/>
          <p:nvPr/>
        </p:nvSpPr>
        <p:spPr>
          <a:xfrm>
            <a:off x="3667380" y="2200428"/>
            <a:ext cx="6297670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-RU" sz="2500" b="1" i="0" u="none" strike="noStrike" cap="none" dirty="0">
                <a:solidFill>
                  <a:schemeClr val="lt1"/>
                </a:solidFill>
              </a:rPr>
              <a:t>Разработка реверсивной лопастной системы </a:t>
            </a:r>
            <a:r>
              <a:rPr lang="ru-RU" sz="2500" b="1" i="0" u="none" strike="noStrike" cap="none" dirty="0" err="1">
                <a:solidFill>
                  <a:schemeClr val="lt1"/>
                </a:solidFill>
              </a:rPr>
              <a:t>дрона</a:t>
            </a:r>
            <a:r>
              <a:rPr lang="ru-RU" sz="2500" b="1" i="0" u="none" strike="noStrike" cap="none" dirty="0">
                <a:solidFill>
                  <a:schemeClr val="lt1"/>
                </a:solidFill>
              </a:rPr>
              <a:t> с функцией </a:t>
            </a:r>
            <a:r>
              <a:rPr lang="ru-RU" sz="2500" b="1" i="0" u="none" strike="noStrike" cap="none" dirty="0" err="1">
                <a:solidFill>
                  <a:schemeClr val="lt1"/>
                </a:solidFill>
              </a:rPr>
              <a:t>ветрогенерации</a:t>
            </a:r>
            <a:r>
              <a:rPr lang="ru-RU" sz="2500" b="1" i="0" u="none" strike="noStrike" cap="none" dirty="0">
                <a:solidFill>
                  <a:schemeClr val="lt1"/>
                </a:solidFill>
              </a:rPr>
              <a:t> для энергообеспечения </a:t>
            </a:r>
            <a:r>
              <a:rPr lang="ru-RU" sz="2500" b="1" i="0" u="none" strike="noStrike" cap="none" dirty="0" err="1">
                <a:solidFill>
                  <a:schemeClr val="lt1"/>
                </a:solidFill>
              </a:rPr>
              <a:t>термоякоря</a:t>
            </a:r>
            <a:r>
              <a:rPr lang="ru-RU" sz="2500" b="1" i="0" u="none" strike="noStrike" cap="none" dirty="0">
                <a:solidFill>
                  <a:schemeClr val="lt1"/>
                </a:solidFill>
              </a:rPr>
              <a:t>-иглы.</a:t>
            </a:r>
            <a:endParaRPr sz="31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-RU" sz="21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Авторы проекта:</a:t>
            </a:r>
            <a:endParaRPr sz="21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-RU" sz="21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Валов Вадим</a:t>
            </a:r>
            <a:endParaRPr sz="21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93" name="Google Shape;93;p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350" y="0"/>
            <a:ext cx="1218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/>
          <p:nvPr/>
        </p:nvSpPr>
        <p:spPr>
          <a:xfrm>
            <a:off x="2081771" y="581033"/>
            <a:ext cx="346280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Актуальность проекта: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2081775" y="1435775"/>
            <a:ext cx="8153100" cy="28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  <a:highlight>
                  <a:srgbClr val="F6F5FB"/>
                </a:highlight>
                <a:latin typeface="Roboto"/>
                <a:ea typeface="Roboto"/>
                <a:cs typeface="Roboto"/>
                <a:sym typeface="Roboto"/>
              </a:rPr>
              <a:t>Государству и бизнесу для освоения Арктики критически нужен непрерывный автономный мониторинг огромных территорий и инфраструктуры. Существующие решения (спутники, самолёты, стационарные посты) либо слишком дороги, либо не дают постоянного присутствия, либо опасны для человека. Наука также требует долгосрочных данных с удалённых точек, куда сложно доставлять оборудование.</a:t>
            </a:r>
            <a:endParaRPr sz="3800">
              <a:solidFill>
                <a:schemeClr val="dk1"/>
              </a:solidFill>
              <a:highlight>
                <a:srgbClr val="F6F5FB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101" name="Google Shape;101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892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/>
          <p:nvPr/>
        </p:nvSpPr>
        <p:spPr>
          <a:xfrm>
            <a:off x="2081771" y="581033"/>
            <a:ext cx="15410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Гипотеза: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2081775" y="1370950"/>
            <a:ext cx="9640800" cy="2554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dirty="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Внедрение комбинированной системы реверсивного хода лопастей, </a:t>
            </a:r>
            <a:r>
              <a:rPr lang="ru-RU" sz="2200" dirty="0" err="1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ветрогенератора</a:t>
            </a:r>
            <a:r>
              <a:rPr lang="ru-RU" sz="2200" dirty="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ru-RU" sz="2200" dirty="0" err="1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термоякоря</a:t>
            </a:r>
            <a:r>
              <a:rPr lang="ru-RU" sz="2200" dirty="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-иглы критически повысит автономность и функциональность арктического </a:t>
            </a:r>
            <a:r>
              <a:rPr lang="ru-RU" sz="2200" dirty="0" err="1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дрона</a:t>
            </a:r>
            <a:r>
              <a:rPr lang="ru-RU" sz="2200" dirty="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, позволив ему осуществлять длительный циклический мониторинг (разведка → </a:t>
            </a:r>
            <a:r>
              <a:rPr lang="ru-RU" sz="2200" dirty="0" err="1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заякоривание</a:t>
            </a:r>
            <a:r>
              <a:rPr lang="ru-RU" sz="2200" dirty="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→ подзарядка → продолжение миссии) без вмешательства человека, что невозможно для существующих аналогов.</a:t>
            </a:r>
            <a:endParaRPr sz="3800" dirty="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109" name="Google Shape;109;p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20700" y="0"/>
            <a:ext cx="12189300" cy="694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/>
          <p:nvPr/>
        </p:nvSpPr>
        <p:spPr>
          <a:xfrm>
            <a:off x="3163317" y="-400194"/>
            <a:ext cx="8190483" cy="7032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Цель: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Разработка и исследование реверсивной лопастной системы </a:t>
            </a:r>
            <a:r>
              <a:rPr lang="ru-RU" sz="2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дрона</a:t>
            </a:r>
            <a:r>
              <a:rPr lang="ru-RU" sz="2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способной работать в режимах тяги и </a:t>
            </a:r>
            <a:r>
              <a:rPr lang="ru-RU" sz="2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ветрогенерации</a:t>
            </a:r>
            <a:r>
              <a:rPr lang="ru-RU" sz="2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с целью автономного энергоснабжения </a:t>
            </a:r>
            <a:r>
              <a:rPr lang="ru-RU" sz="2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термоякоря</a:t>
            </a:r>
            <a:r>
              <a:rPr lang="ru-RU" sz="2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и повышения скорости якорения  </a:t>
            </a:r>
            <a:r>
              <a:rPr lang="ru-RU" sz="2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дрона</a:t>
            </a:r>
            <a:r>
              <a:rPr lang="ru-RU" sz="2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при посадке в арктических условиях.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109" name="Google Shape;109;p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20700" y="0"/>
            <a:ext cx="12189300" cy="694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/>
          <p:nvPr/>
        </p:nvSpPr>
        <p:spPr>
          <a:xfrm>
            <a:off x="3163317" y="-400194"/>
            <a:ext cx="8190483" cy="10679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chemeClr val="dk1"/>
                </a:solidFill>
              </a:rPr>
              <a:t>ЗАДАЧИ: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22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22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chemeClr val="dk1"/>
                </a:solidFill>
              </a:rPr>
              <a:t>1)Изучить существующие конструкции лопастей </a:t>
            </a:r>
            <a:r>
              <a:rPr lang="ru-RU" sz="2200" b="1" dirty="0" err="1">
                <a:solidFill>
                  <a:schemeClr val="dk1"/>
                </a:solidFill>
              </a:rPr>
              <a:t>дронов</a:t>
            </a:r>
            <a:r>
              <a:rPr lang="ru-RU" sz="2200" b="1" dirty="0">
                <a:solidFill>
                  <a:schemeClr val="dk1"/>
                </a:solidFill>
              </a:rPr>
              <a:t> и </a:t>
            </a:r>
            <a:r>
              <a:rPr lang="ru-RU" sz="2200" b="1" dirty="0" err="1">
                <a:solidFill>
                  <a:schemeClr val="dk1"/>
                </a:solidFill>
              </a:rPr>
              <a:t>ветрогенераторов</a:t>
            </a:r>
            <a:r>
              <a:rPr lang="ru-RU" sz="2200" b="1" dirty="0">
                <a:solidFill>
                  <a:schemeClr val="dk1"/>
                </a:solidFill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chemeClr val="dk1"/>
                </a:solidFill>
              </a:rPr>
              <a:t>
2)Разработать реверсивную систему лопастей </a:t>
            </a:r>
            <a:r>
              <a:rPr lang="ru-RU" sz="2200" b="1" dirty="0" err="1">
                <a:solidFill>
                  <a:schemeClr val="dk1"/>
                </a:solidFill>
              </a:rPr>
              <a:t>дрона</a:t>
            </a:r>
            <a:r>
              <a:rPr lang="ru-RU" sz="2200" b="1" dirty="0">
                <a:solidFill>
                  <a:schemeClr val="dk1"/>
                </a:solidFill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chemeClr val="dk1"/>
                </a:solidFill>
              </a:rPr>
              <a:t>
3)Рассчитать выработку электроэнергии при работе лопастей в режиме </a:t>
            </a:r>
            <a:r>
              <a:rPr lang="ru-RU" sz="2200" b="1" dirty="0" err="1">
                <a:solidFill>
                  <a:schemeClr val="dk1"/>
                </a:solidFill>
              </a:rPr>
              <a:t>ветрогенератора</a:t>
            </a:r>
            <a:r>
              <a:rPr lang="ru-RU" sz="2200" b="1" dirty="0">
                <a:solidFill>
                  <a:schemeClr val="dk1"/>
                </a:solidFill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chemeClr val="dk1"/>
                </a:solidFill>
              </a:rPr>
              <a:t>
Исследовать обратное вращение лопастей для 4)повышения устойчивости </a:t>
            </a:r>
            <a:r>
              <a:rPr lang="ru-RU" sz="2200" b="1" dirty="0" err="1">
                <a:solidFill>
                  <a:schemeClr val="dk1"/>
                </a:solidFill>
              </a:rPr>
              <a:t>дрона</a:t>
            </a:r>
            <a:r>
              <a:rPr lang="ru-RU" sz="2200" b="1" dirty="0">
                <a:solidFill>
                  <a:schemeClr val="dk1"/>
                </a:solidFill>
              </a:rPr>
              <a:t> при посадке.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chemeClr val="dk1"/>
                </a:solidFill>
              </a:rPr>
              <a:t>
5)Оценить возможность подзарядки </a:t>
            </a:r>
            <a:r>
              <a:rPr lang="ru-RU" sz="2200" b="1" dirty="0" err="1">
                <a:solidFill>
                  <a:schemeClr val="dk1"/>
                </a:solidFill>
              </a:rPr>
              <a:t>термоиглы</a:t>
            </a:r>
            <a:r>
              <a:rPr lang="ru-RU" sz="2200" b="1" dirty="0">
                <a:solidFill>
                  <a:schemeClr val="dk1"/>
                </a:solidFill>
              </a:rPr>
              <a:t> от разработанной системы.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22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22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22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22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22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22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22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22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22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22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22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22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22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447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318ad3111_0_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116" name="Google Shape;116;g3b318ad3111_0_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713"/>
            <a:ext cx="1218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b318ad3111_0_5"/>
          <p:cNvSpPr/>
          <p:nvPr/>
        </p:nvSpPr>
        <p:spPr>
          <a:xfrm>
            <a:off x="1899350" y="1219325"/>
            <a:ext cx="7041900" cy="29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</a:endParaRPr>
          </a:p>
        </p:txBody>
      </p:sp>
      <p:sp>
        <p:nvSpPr>
          <p:cNvPr id="118" name="Google Shape;118;g3b318ad3111_0_5"/>
          <p:cNvSpPr txBox="1"/>
          <p:nvPr/>
        </p:nvSpPr>
        <p:spPr>
          <a:xfrm>
            <a:off x="1899350" y="603725"/>
            <a:ext cx="10310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Новизна</a:t>
            </a:r>
            <a:endParaRPr sz="28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" name="Google Shape;119;g3b318ad3111_0_5"/>
          <p:cNvSpPr txBox="1"/>
          <p:nvPr/>
        </p:nvSpPr>
        <p:spPr>
          <a:xfrm>
            <a:off x="1899350" y="1219325"/>
            <a:ext cx="9842700" cy="1892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Использование реверсивных лопастей БПЛА одновременно как органа управления и источника автономной энергии для </a:t>
            </a:r>
            <a:r>
              <a:rPr lang="ru-RU" sz="2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термоякоря</a:t>
            </a:r>
            <a:r>
              <a:rPr lang="ru-RU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-иглы.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2ыВ</a:t>
            </a:r>
            <a:endParaRPr sz="1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g3b318ad3111_0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2761" y="3558548"/>
            <a:ext cx="3001046" cy="291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b318ad3111_0_5"/>
          <p:cNvSpPr txBox="1"/>
          <p:nvPr/>
        </p:nvSpPr>
        <p:spPr>
          <a:xfrm>
            <a:off x="0" y="2722390"/>
            <a:ext cx="121920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127" name="Google Shape;127;p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/>
          <p:nvPr/>
        </p:nvSpPr>
        <p:spPr>
          <a:xfrm>
            <a:off x="452251" y="581022"/>
            <a:ext cx="10795800" cy="6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Методы исследования: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452250" y="1397375"/>
            <a:ext cx="7940700" cy="3908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889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ru-RU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1)Анализ научной литературы и существующих конструкций </a:t>
            </a:r>
            <a:r>
              <a:rPr lang="ru-RU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дронов</a:t>
            </a:r>
            <a:r>
              <a:rPr lang="ru-RU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lang="ru-RU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ветрогенераторов</a:t>
            </a:r>
            <a:r>
              <a:rPr lang="ru-RU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889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ru-RU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
2)Теоретические расчёты мощности, вырабатываемой лопастями при различных скоростях ветра.</a:t>
            </a:r>
          </a:p>
          <a:p>
            <a:pPr marL="889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ru-RU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
3)Расчёт силы при реверсивном вращении лопастей и её влияния на ускорение якорения.</a:t>
            </a:r>
          </a:p>
          <a:p>
            <a:pPr marL="889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ru-RU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
4)Сравнительный анализ эффективности различных режимов работы системы.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1871" y="4291175"/>
            <a:ext cx="3931574" cy="231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136" name="Google Shape;136;p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8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/>
          <p:nvPr/>
        </p:nvSpPr>
        <p:spPr>
          <a:xfrm>
            <a:off x="2247600" y="1254925"/>
            <a:ext cx="9944400" cy="3570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Объект исследования:</a:t>
            </a:r>
            <a:r>
              <a:rPr lang="ru-RU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
лопастная система беспилотного летательного аппарата, используемого для работы в арктических условиях.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
</a:t>
            </a:r>
            <a:r>
              <a:rPr lang="ru-RU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Предмет исследования:</a:t>
            </a:r>
            <a:r>
              <a:rPr lang="ru-RU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
режимы работы реверсивных лопастей </a:t>
            </a:r>
            <a:r>
              <a:rPr lang="ru-RU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дрона</a:t>
            </a:r>
            <a:r>
              <a:rPr lang="ru-RU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как пропеллера и как </a:t>
            </a:r>
            <a:r>
              <a:rPr lang="ru-RU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ветрогенератора</a:t>
            </a:r>
            <a:r>
              <a:rPr lang="ru-RU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а также их влияние на выработку электроэнергии и устойчивость </a:t>
            </a:r>
            <a:r>
              <a:rPr lang="ru-RU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дрона</a:t>
            </a:r>
            <a:r>
              <a:rPr lang="ru-RU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при посадке.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145" name="Google Shape;145;p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8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9"/>
          <p:cNvSpPr/>
          <p:nvPr/>
        </p:nvSpPr>
        <p:spPr>
          <a:xfrm>
            <a:off x="1876339" y="0"/>
            <a:ext cx="8526796" cy="6771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Термин №1:</a:t>
            </a: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Термоякорь</a:t>
            </a: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-игла – устройство, для надёжной фиксации </a:t>
            </a:r>
            <a:r>
              <a:rPr lang="ru-RU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дрона</a:t>
            </a: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на ледовых и снеговых поверхностях. Благодаря нагреву плавит лёд и эффективно фиксирует </a:t>
            </a:r>
            <a:r>
              <a:rPr lang="ru-RU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дрон</a:t>
            </a: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на одном месте</a:t>
            </a:r>
            <a:r>
              <a:rPr lang="ru-RU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Термин №2: </a:t>
            </a:r>
            <a:endParaRPr sz="22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Ветрогенератор</a:t>
            </a: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пропеллер </a:t>
            </a:r>
            <a:r>
              <a:rPr lang="ru-RU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дрона</a:t>
            </a: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переделанный под “ветряк”, для зарядки </a:t>
            </a:r>
            <a:r>
              <a:rPr lang="ru-RU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термоякоря</a:t>
            </a: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ТЕРМИН №3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3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2300" b="1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Реверсивный ход лопастей — это режим работы лопастной системы, при котором направление вращения лопастей изменяется на противоположное относительно режима полёта. В этом режиме лопасти создают прижимающее и тормозящее воздействие, что повышает устойчивость </a:t>
            </a:r>
            <a:r>
              <a:rPr lang="ru-RU" sz="2300" b="1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дрона</a:t>
            </a:r>
            <a:r>
              <a:rPr lang="ru-RU" sz="2300" b="1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и ускоряет процесс его якорения на поверхности льда или снега.</a:t>
            </a:r>
            <a:endParaRPr sz="2400" b="1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-RU" sz="2300" b="1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ветрогенератора</a:t>
            </a:r>
            <a:r>
              <a:rPr lang="ru-RU" sz="2300" b="1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400" b="1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2e7aa2f8e_1_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152" name="Google Shape;152;g3b2e7aa2f8e_1_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350" y="0"/>
            <a:ext cx="1218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b2e7aa2f8e_1_8"/>
          <p:cNvSpPr/>
          <p:nvPr/>
        </p:nvSpPr>
        <p:spPr>
          <a:xfrm>
            <a:off x="2041796" y="194383"/>
            <a:ext cx="9166200" cy="26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b2e7aa2f8e_1_8"/>
          <p:cNvSpPr txBox="1"/>
          <p:nvPr/>
        </p:nvSpPr>
        <p:spPr>
          <a:xfrm>
            <a:off x="1748125" y="626200"/>
            <a:ext cx="10168200" cy="3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Формулы, которые мы использовали:</a:t>
            </a:r>
            <a:endParaRPr sz="28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5" name="Google Shape;155;g3b2e7aa2f8e_1_8"/>
          <p:cNvSpPr txBox="1"/>
          <p:nvPr/>
        </p:nvSpPr>
        <p:spPr>
          <a:xfrm>
            <a:off x="1748125" y="1417725"/>
            <a:ext cx="10168200" cy="39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latin typeface="Calibri"/>
                <a:ea typeface="Calibri"/>
                <a:cs typeface="Calibri"/>
                <a:sym typeface="Calibri"/>
              </a:rPr>
              <a:t>1. Масса иглы:m = ρ * V = 7800 * 3.93e-6 ≈ 0.03 кг (30 грамм)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latin typeface="Calibri"/>
                <a:ea typeface="Calibri"/>
                <a:cs typeface="Calibri"/>
                <a:sym typeface="Calibri"/>
              </a:rPr>
              <a:t>2. Энергия для нагрева иглы: Q_нагрев = m * c_ст * ΔT = 0.03 * 500 * 30 = 450 Дж 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latin typeface="Calibri"/>
                <a:ea typeface="Calibri"/>
                <a:cs typeface="Calibri"/>
                <a:sym typeface="Calibri"/>
              </a:rPr>
              <a:t>3. Энергия для плавления льда вокруг иглы (основной расход): Удельная теплота плавления льда: λ = 334 000 Дж/кг · Q_плавление = m_лед * λ = 0.0035 * 334000 ≈ 1170 Дж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latin typeface="Calibri"/>
                <a:ea typeface="Calibri"/>
                <a:cs typeface="Calibri"/>
                <a:sym typeface="Calibri"/>
              </a:rPr>
              <a:t>4. Суммарная энергия:  Q_общ ≈ 450 + 1170 = ~1620 Дж (около 0.45 Вт·ч).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latin typeface="Calibri"/>
                <a:ea typeface="Calibri"/>
                <a:cs typeface="Calibri"/>
                <a:sym typeface="Calibri"/>
              </a:rPr>
              <a:t>5. Площадь ометаемой поверхности (для одной лопасти): S = π * R² = 3.14 * (0.127)² ≈ 0.05 м².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latin typeface="Calibri"/>
                <a:ea typeface="Calibri"/>
                <a:cs typeface="Calibri"/>
                <a:sym typeface="Calibri"/>
              </a:rPr>
              <a:t>6. Мощность ветрового потока (формула Бетца): P_ветра = 0.5 * ρ_возд * S * V³ * Cp; P_ветра = 0.5 * 1.45 * 0.05 * (6)³ * 0.15 ≈ 0.5 * 1.45 * 0.05 * 216 * 0.15 ≈ 1.17 Вт с одного пропеллера.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31b9e2829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161" name="Google Shape;161;g3b31b9e2829_0_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350" y="0"/>
            <a:ext cx="1218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b31b9e2829_0_0"/>
          <p:cNvSpPr/>
          <p:nvPr/>
        </p:nvSpPr>
        <p:spPr>
          <a:xfrm>
            <a:off x="2081771" y="581033"/>
            <a:ext cx="346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Финансы и распределение бюджета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b31b9e2829_0_0"/>
          <p:cNvSpPr txBox="1"/>
          <p:nvPr/>
        </p:nvSpPr>
        <p:spPr>
          <a:xfrm>
            <a:off x="2081775" y="1435775"/>
            <a:ext cx="81531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300">
              <a:solidFill>
                <a:schemeClr val="dk1"/>
              </a:solidFill>
              <a:highlight>
                <a:srgbClr val="F6F5FB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b31b9e2829_0_0"/>
          <p:cNvSpPr txBox="1"/>
          <p:nvPr/>
        </p:nvSpPr>
        <p:spPr>
          <a:xfrm>
            <a:off x="1943075" y="1042725"/>
            <a:ext cx="8756100" cy="59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Энергогенерация (11 500 ₽)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· Ветрогенератор 12В/150Вт: 6 500 ₽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· Модули Пельтье (6 шт): 1 800 ₽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· Медная трубка (игла): 1 500 ₽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· Радиаторы и вентиляторы: 1 200 ₽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· Контроллер заряда: 500 ₽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Механика (5 500 ₽)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· Шаговые двигатели NEMA 17 и драйверы: 2 500 ₽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· Алюминиевый профиль для рамы: 1 500 ₽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· Подшипники, шестерни: 1 500 ₽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Управление (3 000 ₽)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· Плата STM32/Raspberry Pi Pico: 800 ₽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· Датчики тока/температуры: 1 000 ₽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· Реле, провода, разъемы: 1 200 ₽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highlight>
                <a:srgbClr val="93C47D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170" name="Google Shape;170;p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892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7"/>
          <p:cNvSpPr/>
          <p:nvPr/>
        </p:nvSpPr>
        <p:spPr>
          <a:xfrm>
            <a:off x="2081775" y="580945"/>
            <a:ext cx="9166200" cy="407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План работы (время, этапы)</a:t>
            </a:r>
            <a:r>
              <a:rPr lang="ru-RU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9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9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Поиск темы (4 дня)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Изучение информационной базы (</a:t>
            </a:r>
            <a:r>
              <a:rPr lang="ru-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 дней)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Расчёт значений (14 дней)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 Сборка прототипа (5 месяца)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177" name="Google Shape;177;p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892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/>
          <p:nvPr/>
        </p:nvSpPr>
        <p:spPr>
          <a:xfrm>
            <a:off x="1750475" y="365137"/>
            <a:ext cx="9166200" cy="55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Роли участников проекта:</a:t>
            </a: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Вадим: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Поиск темы, проведение расчётов, создания презентации.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Ксения: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Поиск темы, изучение информационной базы, создание презентации</a:t>
            </a:r>
            <a:r>
              <a:rPr lang="ru-RU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184" name="Google Shape;184;p1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8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0"/>
          <p:cNvSpPr/>
          <p:nvPr/>
        </p:nvSpPr>
        <p:spPr>
          <a:xfrm>
            <a:off x="2078171" y="643108"/>
            <a:ext cx="916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Литература по теме: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0"/>
          <p:cNvSpPr txBox="1"/>
          <p:nvPr/>
        </p:nvSpPr>
        <p:spPr>
          <a:xfrm>
            <a:off x="2078175" y="1424175"/>
            <a:ext cx="10134300" cy="35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1.«Элементарный учебник физики» под ред. ландсберга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«Школьный справочник по физике» (тверской, яковлев)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«Юный радиолюбитель» борисов в.г.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«arduino для начинающих. самый простой пошаговый самоучитель» петин в.а.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«конструирование беспилотных летательных аппаратов» грибов а.в. —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«теплотехника» (учебник для техникумов, щукин а.а.)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«основы метрологии и технические измерения»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«лед. физические свойства. современные методы гляциологии» (сборник под ред. голубева в.н.)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«оформление исследовательских проектов школьников»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192" name="Google Shape;192;p1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892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1"/>
          <p:cNvSpPr/>
          <p:nvPr/>
        </p:nvSpPr>
        <p:spPr>
          <a:xfrm>
            <a:off x="2081771" y="581033"/>
            <a:ext cx="916623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Иллюстрации: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11" title="photo_5350732139705601685_y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6550" y="1560675"/>
            <a:ext cx="4838899" cy="4838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15</Slides>
  <Notes>15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valovv600@gmail.com</cp:lastModifiedBy>
  <cp:revision>8</cp:revision>
  <dcterms:modified xsi:type="dcterms:W3CDTF">2026-03-15T12:01:01Z</dcterms:modified>
</cp:coreProperties>
</file>